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8" r:id="rId2"/>
    <p:sldId id="268" r:id="rId3"/>
    <p:sldId id="260" r:id="rId4"/>
    <p:sldId id="298" r:id="rId5"/>
    <p:sldId id="261" r:id="rId6"/>
    <p:sldId id="256" r:id="rId7"/>
    <p:sldId id="257" r:id="rId8"/>
    <p:sldId id="262" r:id="rId9"/>
    <p:sldId id="265" r:id="rId10"/>
    <p:sldId id="293" r:id="rId11"/>
    <p:sldId id="297" r:id="rId12"/>
    <p:sldId id="295" r:id="rId13"/>
    <p:sldId id="296" r:id="rId14"/>
    <p:sldId id="292" r:id="rId15"/>
    <p:sldId id="300" r:id="rId16"/>
    <p:sldId id="301" r:id="rId17"/>
    <p:sldId id="304" r:id="rId18"/>
    <p:sldId id="305" r:id="rId19"/>
    <p:sldId id="287" r:id="rId20"/>
    <p:sldId id="288" r:id="rId21"/>
    <p:sldId id="289" r:id="rId22"/>
    <p:sldId id="303" r:id="rId23"/>
    <p:sldId id="266" r:id="rId24"/>
    <p:sldId id="299" r:id="rId25"/>
    <p:sldId id="2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FF3399"/>
    <a:srgbClr val="A48EF6"/>
    <a:srgbClr val="5437BD"/>
    <a:srgbClr val="00FFFF"/>
    <a:srgbClr val="B7F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A78FEE-29DB-4029-85F2-1A47782F714A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663E-7FE5-4CE9-9DC3-38B33CCFE47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663E-7FE5-4CE9-9DC3-38B33CCFE47C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9C3E2-420B-46E3-B1AF-A5615A7C72A1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2C51F-B534-4920-8A5C-186DFFB4351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urbansounddataset.weebly.com/urbansound8k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3259533" y="447085"/>
            <a:ext cx="60033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R Siddhartha Engineering College 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127" y="185989"/>
            <a:ext cx="2017660" cy="109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1774862" y="1605343"/>
            <a:ext cx="9065342" cy="10195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Complex-Domain Audio Source Separation using ResUNet++</a:t>
            </a:r>
          </a:p>
        </p:txBody>
      </p:sp>
      <p:pic>
        <p:nvPicPr>
          <p:cNvPr id="14" name="Picture 13" descr="Image result for vrse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547" y="90231"/>
            <a:ext cx="1068572" cy="124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166880" y="2847309"/>
            <a:ext cx="6096000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Information Technology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BF11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Presentation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66880" y="4139996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B.V.S.S. AKHIL(228W1A1274)</a:t>
            </a: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PRASANA KUMAR REDDY (228W1A12C3)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8000" y="5518363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v-SE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K.RAJA.SRAVAN KUMAR , Asst.Professor 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304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018096"/>
            <a:ext cx="10515600" cy="54747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Introduction and Problem Statement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Objectives and Outcomes of the Project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review and Summary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 and Requirements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 used in the Project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Architecture/Project flow diagram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 steps and Execution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Obtained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 analysis with charts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and Future work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References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2116" y="227474"/>
            <a:ext cx="10842523" cy="109228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Problem Statement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7411" y="1112361"/>
            <a:ext cx="7490164" cy="5518165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overlapping noise severely degrades modern audio analysis and voice recognition systems.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Time-Domain Bottleneck:</a:t>
            </a:r>
            <a:r>
              <a:rPr lang="en-US" sz="2000" dirty="0"/>
              <a:t> Models like Conv-TasNet and Demucs preserve phase but suffer from massive computational overhead and struggle with chaotic urban noise.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Frequency-Domain Flaw:</a:t>
            </a:r>
            <a:r>
              <a:rPr lang="en-US" sz="2000" dirty="0"/>
              <a:t> Standard magnitude-based models (like U-Net) are computationally lighter but discard phase information, leaving behind robotic, metallic audio artifacts.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The Goal:</a:t>
            </a:r>
            <a:r>
              <a:rPr lang="en-US" sz="2000" dirty="0"/>
              <a:t> We need a system that preserves phase without the massive computational burden.</a:t>
            </a:r>
          </a:p>
        </p:txBody>
      </p:sp>
      <p:sp>
        <p:nvSpPr>
          <p:cNvPr id="3" name="AutoShape 4" descr="Download the chart">
            <a:extLst>
              <a:ext uri="{FF2B5EF4-FFF2-40B4-BE49-F238E27FC236}">
                <a16:creationId xmlns:a16="http://schemas.microsoft.com/office/drawing/2014/main" id="{1EDD1512-C4E9-4151-BD35-7E606F24CB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B68AAF-8955-4AA8-8149-8EAB567F6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575" y="1565806"/>
            <a:ext cx="4326903" cy="43542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6969F-ED9B-49BE-A132-EB80B747C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774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Problem Statement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91B33-CF7A-4D67-847E-B34DBB20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874"/>
            <a:ext cx="10515600" cy="4744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Problem Statement:</a:t>
            </a:r>
          </a:p>
          <a:p>
            <a:pPr algn="just">
              <a:lnSpc>
                <a:spcPct val="150000"/>
              </a:lnSpc>
            </a:pPr>
            <a:r>
              <a:rPr lang="en-US" sz="2200" b="1" dirty="0"/>
              <a:t>Primary Objective:</a:t>
            </a:r>
            <a:r>
              <a:rPr lang="en-US" sz="2200" dirty="0"/>
              <a:t> Develop a highly efficient audio separation system to cleanly extract target sounds from complex environmental mixtures.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/>
              <a:t>Proposed Methodology:</a:t>
            </a:r>
            <a:r>
              <a:rPr lang="en-US" sz="2200" dirty="0"/>
              <a:t> Overcome the limitations of pure time-domain and frequency-domain models by implementing a </a:t>
            </a:r>
            <a:r>
              <a:rPr lang="en-US" sz="2200" b="1" dirty="0"/>
              <a:t>Complex-Domain ResUNet++</a:t>
            </a:r>
            <a:r>
              <a:rPr lang="en-US" sz="22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200" b="1" dirty="0"/>
              <a:t>Optimization Targets:</a:t>
            </a:r>
            <a:r>
              <a:rPr lang="en-US" sz="2200" dirty="0"/>
              <a:t> Maximize the Scale-Invariant Signal-to-Distortion Ratio (SI-SDR).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dirty="0"/>
              <a:t>	-&gt;Maintain a strictly low parameter count and Real-Time Factor (RTF) suitable for edge-device deployment.</a:t>
            </a:r>
          </a:p>
        </p:txBody>
      </p:sp>
    </p:spTree>
    <p:extLst>
      <p:ext uri="{BB962C8B-B14F-4D97-AF65-F5344CB8AC3E}">
        <p14:creationId xmlns:p14="http://schemas.microsoft.com/office/powerpoint/2010/main" val="3362512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199" y="103695"/>
            <a:ext cx="10341077" cy="60331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Outcomes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3123" y="707010"/>
            <a:ext cx="11069298" cy="56560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time-domain baselines (Demucs, Conv-TasNet) against frequency-domain baselines (U-Net).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Implement a Complex-Domain ResUNet++ with ASPP to overcome the limitations of those models.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Optimize the Scale-Invariant Signal-to-Distortion Ratio (SI-SDR) using a custom Hybrid Loss.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ResUNet++ significantly outperformed all baseline architectures, achieving a peak SI-SDR of 4.30 dB.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Eliminated phase-related robotic distortions, resulting in highly accurate, high-fidelity waveform reconstruction.</a:t>
            </a:r>
          </a:p>
          <a:p>
            <a:pPr algn="just">
              <a:lnSpc>
                <a:spcPct val="150000"/>
              </a:lnSpc>
            </a:pPr>
            <a:r>
              <a:rPr lang="en-US" sz="2000" dirty="0"/>
              <a:t>Proved that complex-domain processing is vastly more efficient for edge deployment than heavy waveform-to-waveform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466961"/>
              </p:ext>
            </p:extLst>
          </p:nvPr>
        </p:nvGraphicFramePr>
        <p:xfrm>
          <a:off x="324466" y="690784"/>
          <a:ext cx="11543068" cy="5663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1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4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62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31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539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and Author Name(s)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835">
                <a:tc>
                  <a:txBody>
                    <a:bodyPr/>
                    <a:lstStyle/>
                    <a:p>
                      <a:r>
                        <a:rPr lang="en-US" b="1" dirty="0"/>
                        <a:t>Conv-TasNet: Surpassing ideal time-frequency magnitude masking..."</a:t>
                      </a:r>
                      <a:r>
                        <a:rPr lang="en-US" dirty="0"/>
                        <a:t> (Luo &amp; Mesgarani)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Time-domain audio separation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Temporal Conv. Network (TCN)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WSJ0-2mix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Surpassed ideal masking; proved SI-SDR is the best metric.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memory footprint; struggles with non-stationary urban noise.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579">
                <a:tc>
                  <a:txBody>
                    <a:bodyPr/>
                    <a:lstStyle/>
                    <a:p>
                      <a:r>
                        <a:rPr lang="en-US" b="1" dirty="0"/>
                        <a:t>Music source separation in the waveform domain</a:t>
                      </a:r>
                      <a:r>
                        <a:rPr lang="en-US" dirty="0"/>
                        <a:t> (Défossez et al.)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Heavyweight waveform separation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1D U-Net + </a:t>
                      </a:r>
                      <a:r>
                        <a:rPr lang="en-US" dirty="0" err="1"/>
                        <a:t>BiLSTM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MusDB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Successfully modeled long-term temporal dependencies.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Massive parameter count; slow convergence on limited epochs.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56852" y="-78657"/>
            <a:ext cx="906534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Literature review and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945906"/>
              </p:ext>
            </p:extLst>
          </p:nvPr>
        </p:nvGraphicFramePr>
        <p:xfrm>
          <a:off x="122901" y="970386"/>
          <a:ext cx="11946195" cy="396318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3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7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1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5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88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82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95208">
                <a:tc>
                  <a:txBody>
                    <a:bodyPr/>
                    <a:lstStyle/>
                    <a:p>
                      <a:r>
                        <a:rPr lang="en-US" b="1" dirty="0"/>
                        <a:t>ResUNet++: An advanced architecture for medical image segmentation</a:t>
                      </a:r>
                      <a:r>
                        <a:rPr lang="en-US" dirty="0"/>
                        <a:t> (Jha et al.)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Advanced multi-scale segmentation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ResUNet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Kvasir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-SEG (Images)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ASPP &amp; SE blocks drastically improved multi-scale feature capture.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Originally designed strictly for 2D medical images, not complex audio..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1503">
                <a:tc>
                  <a:txBody>
                    <a:bodyPr/>
                    <a:lstStyle/>
                    <a:p>
                      <a:r>
                        <a:rPr lang="en-US" b="1" dirty="0"/>
                        <a:t>Sudo rm -rf: Efficient networks for universal audio source separation</a:t>
                      </a:r>
                      <a:r>
                        <a:rPr lang="en-US" dirty="0"/>
                        <a:t> (Tzinis et al.)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audio source separation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Sudo rm -rf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Audio Mixtures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 high performance with very low computational cost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efficiency, validating the need to beat heavy 1D models.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775612"/>
              </p:ext>
            </p:extLst>
          </p:nvPr>
        </p:nvGraphicFramePr>
        <p:xfrm>
          <a:off x="122902" y="84841"/>
          <a:ext cx="11946195" cy="885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7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1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5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88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82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8554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and Author Name(s)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B864A5A-5D7B-42C6-BA25-F371DDFF316E}"/>
              </a:ext>
            </a:extLst>
          </p:cNvPr>
          <p:cNvSpPr/>
          <p:nvPr/>
        </p:nvSpPr>
        <p:spPr>
          <a:xfrm>
            <a:off x="198138" y="5091987"/>
            <a:ext cx="11795719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Summary of Key References: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Overcomes the massive bottlenecks of 1D models (Luo, Défossez) by adapting a 2D ResUNet++ (Jha) with SE (Hu) and ASPP (Chen) blocks, delivering an edge-efficient model (Tzinis) evaluated via SI-SDR (Le Roux).</a:t>
            </a:r>
            <a:endParaRPr lang="en-A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232923" cy="608269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requirement specifications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34500" y="973394"/>
            <a:ext cx="11523000" cy="565364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UrbanSound8K Database:</a:t>
            </a:r>
            <a:r>
              <a:rPr lang="en-US" sz="2000" dirty="0"/>
              <a:t> The foundational repository containing 8,732 labeled urban sound excerpts (e.g., sirens, dog barks, street music, etc.). Used as the raw audio source material. </a:t>
            </a:r>
            <a:r>
              <a:rPr lang="en-US" sz="2000" dirty="0">
                <a:hlinkClick r:id="rId2"/>
              </a:rPr>
              <a:t>https://urbansounddataset.weebly.com/urbansound8k.html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Custom Synthetic Audio Mixture Dataset:</a:t>
            </a:r>
            <a:r>
              <a:rPr lang="en-US" sz="2000" dirty="0"/>
              <a:t> A specially engineered dataset created by mathematically mixing target sounds with background noise. It contains thousands of paired 4-second audio chunks specifically divided into 'mix' (noisy input) and 'target' (clean output) folders for supervised learning.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Requirements:</a:t>
            </a:r>
            <a:r>
              <a:rPr lang="en-US" sz="20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/>
              <a:t>Software:</a:t>
            </a:r>
            <a:r>
              <a:rPr lang="en-US" sz="2000" dirty="0"/>
              <a:t> Python, </a:t>
            </a:r>
            <a:r>
              <a:rPr lang="en-US" sz="2000" dirty="0" err="1"/>
              <a:t>PyTorch</a:t>
            </a:r>
            <a:r>
              <a:rPr lang="en-US" sz="2000" dirty="0"/>
              <a:t>, </a:t>
            </a:r>
            <a:r>
              <a:rPr lang="en-US" sz="2000" dirty="0" err="1"/>
              <a:t>Torchaudio</a:t>
            </a:r>
            <a:r>
              <a:rPr lang="en-US" sz="2000" dirty="0"/>
              <a:t>, NumPy, Matplotlib (for spectrogram/loss visualization), </a:t>
            </a:r>
            <a:r>
              <a:rPr lang="en-US" sz="2000" dirty="0" err="1"/>
              <a:t>tqdm</a:t>
            </a:r>
            <a:r>
              <a:rPr lang="en-US" sz="2000" dirty="0"/>
              <a:t>. </a:t>
            </a:r>
            <a:r>
              <a:rPr lang="en-US" sz="2000" b="1" dirty="0"/>
              <a:t>Hardware:</a:t>
            </a:r>
            <a:r>
              <a:rPr lang="en-US" sz="2000" dirty="0"/>
              <a:t> Cloud-based GPU acceleration (Kaggle NVIDIA P100/T4) deep ResUNet++ training.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47251" y="467030"/>
            <a:ext cx="10232923" cy="27463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761" y="810705"/>
                <a:ext cx="10874477" cy="558026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b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Audio Source Separation via Complex-Domain ResUNet++ Pipeline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Raw mixed audio waveform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1:</a:t>
                </a:r>
                <a:r>
                  <a:rPr lang="en-US" sz="2000" dirty="0"/>
                  <a:t> Transform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into a 2D complex spectrogram tensor using STFT, representing stacked real and imaginary components.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2:</a:t>
                </a:r>
                <a:r>
                  <a:rPr lang="en-US" sz="2000" dirty="0"/>
                  <a:t>Pass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through the Encoder’s hierarchical </a:t>
                </a:r>
                <a:r>
                  <a:rPr lang="en-US" sz="2000" b="1" dirty="0"/>
                  <a:t>Residual SE-Blocks</a:t>
                </a:r>
                <a:r>
                  <a:rPr lang="en-US" sz="2000" dirty="0"/>
                  <a:t>, utilizing Squeeze-and-Excitation optimization and Max Pooling downsampling.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3:</a:t>
                </a:r>
                <a:r>
                  <a:rPr lang="en-US" sz="2000" dirty="0"/>
                  <a:t> Process deepest bottleneck features through the </a:t>
                </a:r>
                <a:r>
                  <a:rPr lang="en-US" sz="2000" b="1" dirty="0"/>
                  <a:t>ASPP (Atrous Spatial Pyramid Pooling)</a:t>
                </a:r>
                <a:r>
                  <a:rPr lang="en-US" sz="2000" dirty="0"/>
                  <a:t> module in the bridge network.</a:t>
                </a:r>
                <a:endParaRPr lang="en-US" sz="2000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/>
                  <a:t>Step 4:</a:t>
                </a:r>
                <a:r>
                  <a:rPr lang="en-US" sz="2000" dirty="0"/>
                  <a:t> Capture multi-scale dense global context using parallel dilated convolutional branches within the ASPP block.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761" y="810705"/>
                <a:ext cx="10874477" cy="5580264"/>
              </a:xfrm>
              <a:blipFill>
                <a:blip r:embed="rId2"/>
                <a:stretch>
                  <a:fillRect l="-561" r="-617" b="-3497"/>
                </a:stretch>
              </a:blipFill>
            </p:spPr>
            <p:txBody>
              <a:bodyPr/>
              <a:lstStyle/>
              <a:p>
                <a:r>
                  <a:rPr lang="en-A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129612-CA35-4A24-86BC-0210FED785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22169"/>
                <a:ext cx="10515600" cy="555479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/>
                  <a:t>Step 5:</a:t>
                </a:r>
                <a:r>
                  <a:rPr lang="en-US" sz="2000" dirty="0"/>
                  <a:t> Reconstruct high-resolution data through the Decoder pathway using </a:t>
                </a:r>
                <a:r>
                  <a:rPr lang="en-US" sz="2000" b="1" dirty="0"/>
                  <a:t>Concatenate Skip Connections</a:t>
                </a:r>
                <a:r>
                  <a:rPr lang="en-US" sz="2000" dirty="0"/>
                  <a:t> directly from matching Encoder levels.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/>
                  <a:t>Step 6:</a:t>
                </a:r>
                <a:r>
                  <a:rPr lang="en-US" sz="2000" dirty="0"/>
                  <a:t> Utilize a final 1x1 Convolution layer to generate a Raw Complex Mask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sz="2000" dirty="0"/>
                  <a:t> and perform Complex Multiplication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/>
                  <a:t>Step 7:</a:t>
                </a:r>
                <a:r>
                  <a:rPr lang="en-US" sz="2000" dirty="0"/>
                  <a:t> Apply Inverse Short-Time Fourier Transform (ISTFT) to convert the predicted complex spectrogram back into a clean time-domain waveform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/>
                  <a:t>Output:</a:t>
                </a:r>
                <a:r>
                  <a:rPr lang="en-US" sz="2000" dirty="0"/>
                  <a:t> Predicted isolated target sound waveform</a:t>
                </a:r>
                <a:endParaRPr lang="en-A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129612-CA35-4A24-86BC-0210FED785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22169"/>
                <a:ext cx="10515600" cy="5554794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A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730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47251" y="467030"/>
            <a:ext cx="10232923" cy="27463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761" y="810705"/>
                <a:ext cx="10874477" cy="558026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b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Audio Source Separation via Time-Domain Conv-TasNet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Raw mixed audio waveform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1:</a:t>
                </a:r>
                <a:r>
                  <a:rPr lang="en-US" sz="2000" dirty="0"/>
                  <a:t> Pass the 1D waveform through a Convolutional Encoder to create a learnable feature representation, bypassing the STFT.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2:</a:t>
                </a:r>
                <a:r>
                  <a:rPr lang="en-US" sz="2000" dirty="0"/>
                  <a:t>Process the encoded features through a Temporal Convolutional Network (TCN).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3:</a:t>
                </a:r>
                <a:r>
                  <a:rPr lang="en-US" sz="2000" dirty="0"/>
                  <a:t> Capture deep temporal context using stacked 1D dilated convolutions within the TCN.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4:</a:t>
                </a:r>
                <a:r>
                  <a:rPr lang="en-US" sz="2000" dirty="0"/>
                  <a:t> Generate estimated separation masks and multiply them against the encoded features.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Reconstruct the isolated signal using a 1D Transposed Convolutional Decoder.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Output:</a:t>
                </a:r>
                <a:r>
                  <a:rPr lang="en-US" sz="2000" dirty="0"/>
                  <a:t> Predicted isolated target sound waveform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761" y="810705"/>
                <a:ext cx="10874477" cy="5580264"/>
              </a:xfrm>
              <a:blipFill>
                <a:blip r:embed="rId2"/>
                <a:stretch>
                  <a:fillRect l="-561" r="-617"/>
                </a:stretch>
              </a:blipFill>
            </p:spPr>
            <p:txBody>
              <a:bodyPr/>
              <a:lstStyle/>
              <a:p>
                <a:r>
                  <a:rPr lang="en-A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7281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47251" y="467030"/>
            <a:ext cx="10232923" cy="27463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 in the Project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0194" y="810705"/>
                <a:ext cx="11500701" cy="558026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b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Audio Source Separation via Heavyweight Demucs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/>
                  <a:t>Raw mixed audio waveform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𝑚𝑖𝑥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1:</a:t>
                </a:r>
                <a:r>
                  <a:rPr lang="en-US" sz="2000" dirty="0"/>
                  <a:t> Compress the 1D waveform through an Encoder using strided 1D convolutions.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2: </a:t>
                </a:r>
                <a:r>
                  <a:rPr lang="en-US" sz="2000" dirty="0"/>
                  <a:t>Apply Gated Linear Units (GLU) to dynamically threshold and suppress background noise features.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3:</a:t>
                </a:r>
                <a:r>
                  <a:rPr lang="en-US" sz="2000" dirty="0"/>
                  <a:t> Route the compressed sequence through a deep Bidirectional LSTM bottleneck to maximize temporal memory.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Step 4:</a:t>
                </a:r>
                <a:r>
                  <a:rPr lang="en-US" sz="2000" dirty="0"/>
                  <a:t> Upsample the recurrent output through a 1D Transposed Convolutional Decoder.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Utilize Skip Connections from the encoder to recover high-resolution details lost during compression.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/>
                  <a:t>Output:</a:t>
                </a:r>
                <a:r>
                  <a:rPr lang="en-US" sz="2000" dirty="0"/>
                  <a:t> : Predicted isolated target sound waveform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0194" y="810705"/>
                <a:ext cx="11500701" cy="5580264"/>
              </a:xfrm>
              <a:blipFill>
                <a:blip r:embed="rId2"/>
                <a:stretch>
                  <a:fillRect l="-530" r="-583"/>
                </a:stretch>
              </a:blipFill>
            </p:spPr>
            <p:txBody>
              <a:bodyPr/>
              <a:lstStyle/>
              <a:p>
                <a:r>
                  <a:rPr lang="en-A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575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5F0841-27A0-4647-A83C-7A8DFCC95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960"/>
          <a:stretch/>
        </p:blipFill>
        <p:spPr>
          <a:xfrm>
            <a:off x="414779" y="961534"/>
            <a:ext cx="10586301" cy="58964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B35B17-4061-4591-A457-B1BE5DB76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6" y="0"/>
            <a:ext cx="9273177" cy="96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56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6" y="0"/>
            <a:ext cx="6718513" cy="68815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2DD5E18-3444-406A-B4E5-A216872C2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59" y="428920"/>
            <a:ext cx="11874975" cy="6429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508C-FF80-4A16-AF1D-81131C2F0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462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Implementation steps and Execution</a:t>
            </a:r>
            <a:b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88575-0E88-400A-8CD0-B29E64894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3509"/>
            <a:ext cx="10515600" cy="508345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Environment: </a:t>
            </a:r>
            <a:r>
              <a:rPr lang="en-US" sz="2000" dirty="0"/>
              <a:t>Executed on Google </a:t>
            </a:r>
            <a:r>
              <a:rPr lang="en-US" sz="2000" dirty="0" err="1"/>
              <a:t>Colab</a:t>
            </a:r>
            <a:r>
              <a:rPr lang="en-US" sz="2000" dirty="0"/>
              <a:t> using the PyTorch framework and an NVIDIA A100 GPU.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Data Pipeline:</a:t>
            </a:r>
            <a:r>
              <a:rPr lang="en-US" sz="2000" dirty="0"/>
              <a:t> Waveforms were dynamically padded or cropped to exactly 128,000 samples (4.0s) for uniform batching.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Hardware Acceleration:</a:t>
            </a:r>
            <a:r>
              <a:rPr lang="en-US" sz="2000" dirty="0"/>
              <a:t> Utilized Mixed Precision Training  (</a:t>
            </a:r>
            <a:r>
              <a:rPr lang="en-US" sz="2000" dirty="0" err="1"/>
              <a:t>autocast+Gradscaler</a:t>
            </a:r>
            <a:r>
              <a:rPr lang="en-US" sz="2000" dirty="0"/>
              <a:t>) to drastically boost GPU speed and reduce memory.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A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8FAF45-D23A-46EF-B93F-3C041F543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137" y="3685880"/>
            <a:ext cx="8773749" cy="309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32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FF3F-5375-4AC2-A88B-65C28039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348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Implementation steps and Execution</a:t>
            </a:r>
            <a:b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B6FA1-3AC2-43E2-8686-41D6E11B7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8668"/>
            <a:ext cx="10515600" cy="516829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Optimization Strategy:</a:t>
            </a:r>
            <a:r>
              <a:rPr lang="en-US" sz="2000" dirty="0"/>
              <a:t> Trained for up to 50 epochs using </a:t>
            </a:r>
            <a:r>
              <a:rPr lang="en-US" sz="2000" dirty="0" err="1"/>
              <a:t>AdamW</a:t>
            </a:r>
            <a:r>
              <a:rPr lang="en-US" sz="2000" dirty="0"/>
              <a:t> and a Cosine Annealing learning rate scheduler.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Evaluation Metric:</a:t>
            </a:r>
            <a:r>
              <a:rPr lang="en-US" sz="2000" dirty="0"/>
              <a:t> Optimized via a custom Hybrid Loss function combining 0.6 SI-SDR and 0.4 MRSTFT.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Overfit Prevention:</a:t>
            </a:r>
            <a:r>
              <a:rPr lang="en-US" sz="2000" dirty="0"/>
              <a:t> Integrated an Early Stopping mechanism with a 10-epoch patience threshold to halt training if validation plateaued.4 MRSTFT.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A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46D43-634D-420F-9925-98C5DBD7B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336" y="3968685"/>
            <a:ext cx="9266548" cy="285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6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F39E5-6327-4590-94E6-12CE5B38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  Results Obtained</a:t>
            </a:r>
            <a:br>
              <a:rPr lang="en-AS" dirty="0"/>
            </a:br>
            <a:endParaRPr lang="en-A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5E1EE5-B1CE-4DF2-8DE4-7ADBFA2312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9749229"/>
              </p:ext>
            </p:extLst>
          </p:nvPr>
        </p:nvGraphicFramePr>
        <p:xfrm>
          <a:off x="744717" y="1376313"/>
          <a:ext cx="10944520" cy="5116562"/>
        </p:xfrm>
        <a:graphic>
          <a:graphicData uri="http://schemas.openxmlformats.org/drawingml/2006/table">
            <a:tbl>
              <a:tblPr firstRow="1" bandRow="1"/>
              <a:tblGrid>
                <a:gridCol w="2736130">
                  <a:extLst>
                    <a:ext uri="{9D8B030D-6E8A-4147-A177-3AD203B41FA5}">
                      <a16:colId xmlns:a16="http://schemas.microsoft.com/office/drawing/2014/main" val="2072182659"/>
                    </a:ext>
                  </a:extLst>
                </a:gridCol>
                <a:gridCol w="2736130">
                  <a:extLst>
                    <a:ext uri="{9D8B030D-6E8A-4147-A177-3AD203B41FA5}">
                      <a16:colId xmlns:a16="http://schemas.microsoft.com/office/drawing/2014/main" val="3313224312"/>
                    </a:ext>
                  </a:extLst>
                </a:gridCol>
                <a:gridCol w="2736130">
                  <a:extLst>
                    <a:ext uri="{9D8B030D-6E8A-4147-A177-3AD203B41FA5}">
                      <a16:colId xmlns:a16="http://schemas.microsoft.com/office/drawing/2014/main" val="3354683802"/>
                    </a:ext>
                  </a:extLst>
                </a:gridCol>
                <a:gridCol w="2736130">
                  <a:extLst>
                    <a:ext uri="{9D8B030D-6E8A-4147-A177-3AD203B41FA5}">
                      <a16:colId xmlns:a16="http://schemas.microsoft.com/office/drawing/2014/main" val="3732570806"/>
                    </a:ext>
                  </a:extLst>
                </a:gridCol>
              </a:tblGrid>
              <a:tr h="6462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Feature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Demus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Conv-TasNet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Proposed ResUNet++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256836"/>
                  </a:ext>
                </a:extLst>
              </a:tr>
              <a:tr h="1115375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Architecture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1D U-Net + BiLSTM Bottleneck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1D Convolutions + TCN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Residual l SE-Blocks + ASPP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02591"/>
                  </a:ext>
                </a:extLst>
              </a:tr>
              <a:tr h="1115375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Input Domain 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Raw Time-Domain (1D Waveform)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Raw Time-Domain (1D Waveform)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Complex Time-Frequency (Preserves Phase)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547078"/>
                  </a:ext>
                </a:extLst>
              </a:tr>
              <a:tr h="6462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Peak SI-SDR 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2.43 dB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3.22 dB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4.30 dB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277642"/>
                  </a:ext>
                </a:extLst>
              </a:tr>
              <a:tr h="1593332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Audio Quality 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Accurate phase, but limited by epoch starvation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Accurate phase, but struggles with chaotic noise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Clean, high-fidelity separation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8969" marR="88969" marT="44484" marB="44484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01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6294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43D3A-953C-4CD3-8133-D051039E0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4462"/>
            <a:ext cx="10515600" cy="495849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Takeaways: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Peak Performance:</a:t>
            </a:r>
            <a:r>
              <a:rPr lang="en-US" sz="2000" dirty="0"/>
              <a:t> The proposed Complex-Domain ResUNet++ achieved a top validation SI-SDR of 4.308 dB.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Clear Superiority:</a:t>
            </a:r>
            <a:r>
              <a:rPr lang="en-US" sz="2000" dirty="0"/>
              <a:t> Substantially outperformed all baselines, including U-Net (3.568 dB), Conv-TasNet (3.322 dB), and Demucs (2.437 dB).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Time-Domain Bottleneck:</a:t>
            </a:r>
            <a:r>
              <a:rPr lang="en-US" sz="2000" dirty="0"/>
              <a:t> Heavyweight models (Demucs, Conv-TasNet) struggled due to severe computational overhead and "epoch starvation".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/>
              <a:t>Frequency-Domain Ceiling:</a:t>
            </a:r>
            <a:r>
              <a:rPr lang="en-US" sz="2000" dirty="0"/>
              <a:t> The standard U-Net plateaued early due to artifact-inducing "phase blindness".</a:t>
            </a:r>
            <a:endParaRPr lang="en-AS" sz="2000" dirty="0"/>
          </a:p>
        </p:txBody>
      </p:sp>
    </p:spTree>
    <p:extLst>
      <p:ext uri="{BB962C8B-B14F-4D97-AF65-F5344CB8AC3E}">
        <p14:creationId xmlns:p14="http://schemas.microsoft.com/office/powerpoint/2010/main" val="3803162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47251" y="178313"/>
            <a:ext cx="10232923" cy="667262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with charts </a:t>
            </a:r>
          </a:p>
        </p:txBody>
      </p:sp>
      <p:sp>
        <p:nvSpPr>
          <p:cNvPr id="12" name="Content Placeholder 11"/>
          <p:cNvSpPr txBox="1">
            <a:spLocks noGrp="1"/>
          </p:cNvSpPr>
          <p:nvPr>
            <p:ph idx="1"/>
          </p:nvPr>
        </p:nvSpPr>
        <p:spPr>
          <a:xfrm>
            <a:off x="570374" y="920989"/>
            <a:ext cx="10874375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Peak Performance:</a:t>
            </a:r>
            <a:r>
              <a:rPr lang="en-US" sz="2000" dirty="0"/>
              <a:t> The ResUNet++ model successfully achieved a maximum SI-SDR score of 4.301 dB at Epoch 45.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Absolute Growth:</a:t>
            </a:r>
            <a:r>
              <a:rPr lang="en-US" sz="2000" dirty="0"/>
              <a:t> The training process yielded a consistent and highly significant +2.04 dB direct improvement.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Signal Power Gain:</a:t>
            </a:r>
            <a:r>
              <a:rPr lang="en-US" sz="2000" dirty="0"/>
              <a:t> In linear terms, this dB improvement translates to a massive 59% increase in pure target signal clarity.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42E6E2F4-D6CD-4145-837A-547B603D6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600" y="2912884"/>
            <a:ext cx="5702241" cy="3945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86748" y="177010"/>
            <a:ext cx="112873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plot 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Rapid Convergence:</a:t>
            </a:r>
            <a:r>
              <a:rPr lang="en-US" dirty="0"/>
              <a:t> The Hybrid Loss smoothly minimizes, with validation loss (orange) establishing a stable plateau, proving the model learned efficiently without severe overfitting.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C9235-B1F5-4A4E-94AB-6CD99E6D8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1377339"/>
            <a:ext cx="9144018" cy="50705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110087" y="6125772"/>
            <a:ext cx="4609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SI-SDR Curve over training and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74481" y="362896"/>
            <a:ext cx="1124303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Sustained Learning:</a:t>
            </a:r>
            <a:r>
              <a:rPr lang="en-US" dirty="0"/>
              <a:t> Training SI-SDR (green) climbs consistently to 7.5 dB, demonstrating the ResUNet++ architecture's strong capacity to map complex audio patterns.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Robust Generalization:</a:t>
            </a:r>
            <a:r>
              <a:rPr lang="en-US" dirty="0"/>
              <a:t> Validation SI-SDR (red) stabilizes and holds firmly above 4.0 dB, confirming the model reliably separates target sounds in unseen, real-world mixtures.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ABFBC5-64A8-42A7-8EE7-271485705F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210" y="1840224"/>
            <a:ext cx="8702676" cy="4351338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3665-060A-4DB9-86A6-48D500F80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Conclusion and Future work</a:t>
            </a:r>
            <a:b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26B4D-2B44-4922-B01D-7A96270EB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167"/>
            <a:ext cx="10515600" cy="41006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Core Achievement:</a:t>
            </a:r>
            <a:r>
              <a:rPr lang="en-US" sz="2000" dirty="0"/>
              <a:t> Resolves both the "phase blindness" of U-Net and the severe computational bottlenecks of 1D models.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Architectural Success:</a:t>
            </a:r>
            <a:r>
              <a:rPr lang="en-US" sz="2000" dirty="0"/>
              <a:t> SE attention and ASPP modules successfully preserved critical audio phase information.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Peak Results:</a:t>
            </a:r>
            <a:r>
              <a:rPr lang="en-US" sz="2000" dirty="0"/>
              <a:t> Achieved an outstanding validation SI-SDR of 4.308 dB under strict computational constraints.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Future Work:</a:t>
            </a:r>
            <a:r>
              <a:rPr lang="en-US" sz="2000" dirty="0"/>
              <a:t> Targeting INT8 quantization and overlap-add buffering for real-time edge device deployment.</a:t>
            </a:r>
            <a:endParaRPr lang="en-AS" sz="2000" dirty="0"/>
          </a:p>
        </p:txBody>
      </p:sp>
    </p:spTree>
    <p:extLst>
      <p:ext uri="{BB962C8B-B14F-4D97-AF65-F5344CB8AC3E}">
        <p14:creationId xmlns:p14="http://schemas.microsoft.com/office/powerpoint/2010/main" val="818613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508290"/>
            <a:ext cx="10291916" cy="468603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Luo and N. Mesgarani, ``Conv-TasNet: Surpassing ideal time-frequency magnitude masking for speech separation,'' IEEE/ACM Trans. Audio, Speech, Lang. Process., vol. 27, no. 8, pp. 1256--1266, Aug. 2019.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Défossez, N. Usunier, L. Bottou, and F. Bach, ``Music source separation in the waveform domain,‘’ arXiv preprint arXiv:1911.13254, Nov. 2019.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Jha, P. H. Smedsrud, M. A. Riegler, D. Johansen, T. De Lange, P. Halvorsen, and H. D. Johansen, ``ResUNet++: An advanced architecture for medical image segmentation,'' in Proc. IEEE Int. Symp. Multimedia (ISM), San Diego, CA, USA, Dec. 2019, pp. 225--2255.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Hu, L. Shen, and G. Sun, ``Squeeze-and-excitation networks,'' in Proc. IEEE/CVF Conf. Comput. Vis. Pattern Recognit. (CVPR), Salt Lake City, UT, USA, Jun. 2018, pp. 7132--7141.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44E3-016F-4FFA-B9A3-9B659DC7A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References</a:t>
            </a:r>
            <a:endParaRPr lang="en-A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D853-2785-4645-B068-FDAE13152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557"/>
            <a:ext cx="10515600" cy="457440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L.-C. Chen, G. Papandreou, I. Kokkinos, K. Murphy, and A. L. Yuille, ``DeepLab: Semantic image segmentation with deep convolutional nets, atrous convolution, and fully connected CRFs,'' IEEE Trans. Pattern Anal. Mach. Intell., vol. 40, no. 4, pp. 834--848, Apr. 2018.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Le Roux, S. Wisdom, H. Erdogan, and J. R. Hershey, ``SDR-half-baked or well done?'' in Proc. IEEE Int. Conf. Acoust., Speech, Signal Process. (ICASSP), Brighton, UK, May 2019, pp. 626--630.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Tzinis, Z. Wang, and P. Smaragdis, ``Sudo rm -rf: Efficient networks for universal audio source separation,‘’ in Proc. IEEE 30th Int. Workshop Mach. Learn. Signal Process. (MLSP), Espoo, Finland, Sep. 2020, pp. 1--6.</a:t>
            </a:r>
          </a:p>
          <a:p>
            <a:pPr marL="0" indent="0">
              <a:buNone/>
            </a:pPr>
            <a:endParaRPr lang="en-AS" dirty="0"/>
          </a:p>
        </p:txBody>
      </p:sp>
    </p:spTree>
    <p:extLst>
      <p:ext uri="{BB962C8B-B14F-4D97-AF65-F5344CB8AC3E}">
        <p14:creationId xmlns:p14="http://schemas.microsoft.com/office/powerpoint/2010/main" val="2910270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2460352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2125</Words>
  <Application>Microsoft Office PowerPoint</Application>
  <PresentationFormat>Widescreen</PresentationFormat>
  <Paragraphs>187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Tahoma</vt:lpstr>
      <vt:lpstr>Times New Roman</vt:lpstr>
      <vt:lpstr>Office Theme</vt:lpstr>
      <vt:lpstr>PowerPoint Presentation</vt:lpstr>
      <vt:lpstr>Agenda</vt:lpstr>
      <vt:lpstr>Introduction and Problem Statement</vt:lpstr>
      <vt:lpstr>Introduction and Problem Statement</vt:lpstr>
      <vt:lpstr>Objectives and Outcomes</vt:lpstr>
      <vt:lpstr>PowerPoint Presentation</vt:lpstr>
      <vt:lpstr>PowerPoint Presentation</vt:lpstr>
      <vt:lpstr>Dataset and requirement specifications</vt:lpstr>
      <vt:lpstr>Algorithms used in the Project</vt:lpstr>
      <vt:lpstr>PowerPoint Presentation</vt:lpstr>
      <vt:lpstr>Algorithms used in the Project</vt:lpstr>
      <vt:lpstr>Algorithms used in the Project</vt:lpstr>
      <vt:lpstr>PowerPoint Presentation</vt:lpstr>
      <vt:lpstr>PowerPoint Presentation</vt:lpstr>
      <vt:lpstr> Implementation steps and Execution </vt:lpstr>
      <vt:lpstr> Implementation steps and Execution </vt:lpstr>
      <vt:lpstr>     Results Obtained </vt:lpstr>
      <vt:lpstr>PowerPoint Presentation</vt:lpstr>
      <vt:lpstr>Result analysis with charts </vt:lpstr>
      <vt:lpstr>PowerPoint Presentation</vt:lpstr>
      <vt:lpstr>PowerPoint Presentation</vt:lpstr>
      <vt:lpstr>  Conclusion and Future work </vt:lpstr>
      <vt:lpstr>References</vt:lpstr>
      <vt:lpstr>  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RAMYA DOVA</dc:creator>
  <cp:lastModifiedBy>shanmukha akhil</cp:lastModifiedBy>
  <cp:revision>69</cp:revision>
  <dcterms:created xsi:type="dcterms:W3CDTF">2025-03-05T14:49:00Z</dcterms:created>
  <dcterms:modified xsi:type="dcterms:W3CDTF">2026-04-16T06:20:35Z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3E61F1E62D1F42999C9ABDFE6C467034_12</vt:lpwstr>
  </property>
  <property fmtid="{D5CDD505-2E9C-101B-9397-08002B2CF9AE}" pid="3" name="KSOProductBuildVer">
    <vt:lpwstr>1033-12.2.0.23196</vt:lpwstr>
  </property>
</Properties>
</file>